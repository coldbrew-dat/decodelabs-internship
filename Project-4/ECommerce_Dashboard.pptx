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E26-4051-A4B9-1AC11FBCD1D5}"/>
              </c:ext>
            </c:extLst>
          </c:dPt>
          <c:dPt>
            <c:idx val="1"/>
            <c:bubble3D val="0"/>
            <c:spPr>
              <a:solidFill>
                <a:srgbClr val="F09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26-4051-A4B9-1AC11FBCD1D5}"/>
              </c:ext>
            </c:extLst>
          </c:dPt>
          <c:dPt>
            <c:idx val="2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26-4051-A4B9-1AC11FBCD1D5}"/>
              </c:ext>
            </c:extLst>
          </c:dPt>
          <c:dPt>
            <c:idx val="3"/>
            <c:bubble3D val="0"/>
            <c:spPr>
              <a:solidFill>
                <a:srgbClr val="5DCA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26-4051-A4B9-1AC11FBCD1D5}"/>
              </c:ext>
            </c:extLst>
          </c:dPt>
          <c:dPt>
            <c:idx val="4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E26-4051-A4B9-1AC11FBCD1D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E26-4051-A4B9-1AC11FBCD1D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E26-4051-A4B9-1AC11FBCD1D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E26-4051-A4B9-1AC11FBCD1D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E26-4051-A4B9-1AC11FBCD1D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E26-4051-A4B9-1AC11FBCD1D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Cancelled</c:v>
                </c:pt>
                <c:pt idx="1">
                  <c:v>Returned</c:v>
                </c:pt>
                <c:pt idx="2">
                  <c:v>Pending</c:v>
                </c:pt>
                <c:pt idx="3">
                  <c:v>Shipped</c:v>
                </c:pt>
                <c:pt idx="4">
                  <c:v>Delivered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247</c:v>
                </c:pt>
                <c:pt idx="2">
                  <c:v>237</c:v>
                </c:pt>
                <c:pt idx="3">
                  <c:v>235</c:v>
                </c:pt>
                <c:pt idx="4">
                  <c:v>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26-4051-A4B9-1AC11FBCD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61B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8F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66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E5-45FC-AC78-946801950579}"/>
              </c:ext>
            </c:extLst>
          </c:dPt>
          <c:dPt>
            <c:idx val="1"/>
            <c:bubble3D val="0"/>
            <c:spPr>
              <a:solidFill>
                <a:srgbClr val="4E86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E5-45FC-AC78-946801950579}"/>
              </c:ext>
            </c:extLst>
          </c:dPt>
          <c:dPt>
            <c:idx val="2"/>
            <c:bubble3D val="0"/>
            <c:spPr>
              <a:solidFill>
                <a:srgbClr val="6AA0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E5-45FC-AC78-946801950579}"/>
              </c:ext>
            </c:extLst>
          </c:dPt>
          <c:dPt>
            <c:idx val="3"/>
            <c:bubble3D val="0"/>
            <c:spPr>
              <a:solidFill>
                <a:srgbClr val="85B7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E5-45FC-AC78-946801950579}"/>
              </c:ext>
            </c:extLst>
          </c:dPt>
          <c:dPt>
            <c:idx val="4"/>
            <c:bubble3D val="0"/>
            <c:spPr>
              <a:solidFill>
                <a:srgbClr val="A5C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E5-45FC-AC78-946801950579}"/>
              </c:ext>
            </c:extLst>
          </c:dPt>
          <c:dPt>
            <c:idx val="5"/>
            <c:bubble3D val="0"/>
            <c:spPr>
              <a:solidFill>
                <a:srgbClr val="C2DC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E5-45FC-AC78-946801950579}"/>
              </c:ext>
            </c:extLst>
          </c:dPt>
          <c:dPt>
            <c:idx val="6"/>
            <c:bubble3D val="0"/>
            <c:spPr>
              <a:solidFill>
                <a:srgbClr val="DAE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AE5-45FC-AC78-94680195057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E5-45FC-AC78-94680195057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E5-45FC-AC78-94680195057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E5-45FC-AC78-94680195057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E5-45FC-AC78-94680195057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E5-45FC-AC78-94680195057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E5-45FC-AC78-946801950579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AE5-45FC-AC78-94680195057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Chair</c:v>
                </c:pt>
                <c:pt idx="1">
                  <c:v>Printer</c:v>
                </c:pt>
                <c:pt idx="2">
                  <c:v>Laptop</c:v>
                </c:pt>
                <c:pt idx="3">
                  <c:v>Tablet</c:v>
                </c:pt>
                <c:pt idx="4">
                  <c:v>Monitor</c:v>
                </c:pt>
                <c:pt idx="5">
                  <c:v>Desk</c:v>
                </c:pt>
                <c:pt idx="6">
                  <c:v>Phone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AE5-45FC-AC78-9468019505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61B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8F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2C-4F3C-BF6F-35F10EF2649F}"/>
              </c:ext>
            </c:extLst>
          </c:dPt>
          <c:dPt>
            <c:idx val="1"/>
            <c:invertIfNegative val="0"/>
            <c:bubble3D val="0"/>
            <c:spPr>
              <a:solidFill>
                <a:srgbClr val="9590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2C-4F3C-BF6F-35F10EF2649F}"/>
              </c:ext>
            </c:extLst>
          </c:dPt>
          <c:dPt>
            <c:idx val="2"/>
            <c:invertIfNegative val="0"/>
            <c:bubble3D val="0"/>
            <c:spPr>
              <a:solidFill>
                <a:srgbClr val="ACA9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2C-4F3C-BF6F-35F10EF2649F}"/>
              </c:ext>
            </c:extLst>
          </c:dPt>
          <c:dPt>
            <c:idx val="3"/>
            <c:invertIfNegative val="0"/>
            <c:bubble3D val="0"/>
            <c:spPr>
              <a:solidFill>
                <a:srgbClr val="C4C2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2C-4F3C-BF6F-35F10EF2649F}"/>
              </c:ext>
            </c:extLst>
          </c:dPt>
          <c:dPt>
            <c:idx val="4"/>
            <c:invertIfNegative val="0"/>
            <c:bubble3D val="0"/>
            <c:spPr>
              <a:solidFill>
                <a:srgbClr val="DCD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32C-4F3C-BF6F-35F10EF264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Online</c:v>
                </c:pt>
                <c:pt idx="1">
                  <c:v>Cash</c:v>
                </c:pt>
                <c:pt idx="2">
                  <c:v>Credit Card</c:v>
                </c:pt>
                <c:pt idx="3">
                  <c:v>Debit Card</c:v>
                </c:pt>
                <c:pt idx="4">
                  <c:v>Gift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258</c:v>
                </c:pt>
                <c:pt idx="1">
                  <c:v>246</c:v>
                </c:pt>
                <c:pt idx="2">
                  <c:v>234</c:v>
                </c:pt>
                <c:pt idx="3">
                  <c:v>232</c:v>
                </c:pt>
                <c:pt idx="4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32C-4F3C-BF6F-35F10EF264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AE6-4BD7-ADC2-692F4CFBFA0A}"/>
              </c:ext>
            </c:extLst>
          </c:dPt>
          <c:dPt>
            <c:idx val="1"/>
            <c:invertIfNegative val="0"/>
            <c:bubble3D val="0"/>
            <c:spPr>
              <a:solidFill>
                <a:srgbClr val="1AB8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E6-4BD7-ADC2-692F4CFBFA0A}"/>
              </c:ext>
            </c:extLst>
          </c:dPt>
          <c:dPt>
            <c:idx val="2"/>
            <c:invertIfNegative val="0"/>
            <c:bubble3D val="0"/>
            <c:spPr>
              <a:solidFill>
                <a:srgbClr val="2EA0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E6-4BD7-ADC2-692F4CFBFA0A}"/>
              </c:ext>
            </c:extLst>
          </c:dPt>
          <c:dPt>
            <c:idx val="3"/>
            <c:invertIfNegative val="0"/>
            <c:bubble3D val="0"/>
            <c:spPr>
              <a:solidFill>
                <a:srgbClr val="3E88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AE6-4BD7-ADC2-692F4CFBFA0A}"/>
              </c:ext>
            </c:extLst>
          </c:dPt>
          <c:dPt>
            <c:idx val="4"/>
            <c:invertIfNegative val="0"/>
            <c:bubble3D val="0"/>
            <c:spPr>
              <a:solidFill>
                <a:srgbClr val="4C72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AE6-4BD7-ADC2-692F4CFBFA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Instagram</c:v>
                </c:pt>
                <c:pt idx="1">
                  <c:v>Email</c:v>
                </c:pt>
                <c:pt idx="2">
                  <c:v>Google</c:v>
                </c:pt>
                <c:pt idx="3">
                  <c:v>Facebook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259</c:v>
                </c:pt>
                <c:pt idx="1">
                  <c:v>250</c:v>
                </c:pt>
                <c:pt idx="2">
                  <c:v>241</c:v>
                </c:pt>
                <c:pt idx="3">
                  <c:v>228</c:v>
                </c:pt>
                <c:pt idx="4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AE6-4BD7-ADC2-692F4CFBFA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3266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15-4052-9ADB-BAEC1C6A6602}"/>
              </c:ext>
            </c:extLst>
          </c:dPt>
          <c:dPt>
            <c:idx val="1"/>
            <c:invertIfNegative val="0"/>
            <c:bubble3D val="0"/>
            <c:spPr>
              <a:solidFill>
                <a:srgbClr val="4E86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15-4052-9ADB-BAEC1C6A6602}"/>
              </c:ext>
            </c:extLst>
          </c:dPt>
          <c:dPt>
            <c:idx val="2"/>
            <c:invertIfNegative val="0"/>
            <c:bubble3D val="0"/>
            <c:spPr>
              <a:solidFill>
                <a:srgbClr val="6AA0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15-4052-9ADB-BAEC1C6A6602}"/>
              </c:ext>
            </c:extLst>
          </c:dPt>
          <c:dPt>
            <c:idx val="3"/>
            <c:invertIfNegative val="0"/>
            <c:bubble3D val="0"/>
            <c:spPr>
              <a:solidFill>
                <a:srgbClr val="85B7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15-4052-9ADB-BAEC1C6A6602}"/>
              </c:ext>
            </c:extLst>
          </c:dPt>
          <c:dPt>
            <c:idx val="4"/>
            <c:invertIfNegative val="0"/>
            <c:bubble3D val="0"/>
            <c:spPr>
              <a:solidFill>
                <a:srgbClr val="A5C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15-4052-9ADB-BAEC1C6A6602}"/>
              </c:ext>
            </c:extLst>
          </c:dPt>
          <c:dPt>
            <c:idx val="5"/>
            <c:invertIfNegative val="0"/>
            <c:bubble3D val="0"/>
            <c:spPr>
              <a:solidFill>
                <a:srgbClr val="C2DC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015-4052-9ADB-BAEC1C6A6602}"/>
              </c:ext>
            </c:extLst>
          </c:dPt>
          <c:dPt>
            <c:idx val="6"/>
            <c:invertIfNegative val="0"/>
            <c:bubble3D val="0"/>
            <c:spPr>
              <a:solidFill>
                <a:srgbClr val="DAE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015-4052-9ADB-BAEC1C6A660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Printer</c:v>
                </c:pt>
                <c:pt idx="1">
                  <c:v>Tablet</c:v>
                </c:pt>
                <c:pt idx="2">
                  <c:v>Chair</c:v>
                </c:pt>
                <c:pt idx="3">
                  <c:v>Laptop</c:v>
                </c:pt>
                <c:pt idx="4">
                  <c:v>Desk</c:v>
                </c:pt>
                <c:pt idx="5">
                  <c:v>Monitor</c:v>
                </c:pt>
                <c:pt idx="6">
                  <c:v>Phone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181</c:v>
                </c:pt>
                <c:pt idx="1">
                  <c:v>179</c:v>
                </c:pt>
                <c:pt idx="2">
                  <c:v>178</c:v>
                </c:pt>
                <c:pt idx="3">
                  <c:v>173</c:v>
                </c:pt>
                <c:pt idx="4">
                  <c:v>170</c:v>
                </c:pt>
                <c:pt idx="5">
                  <c:v>163</c:v>
                </c:pt>
                <c:pt idx="6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015-4052-9ADB-BAEC1C6A66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72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Data Visualization  |  1,200 Orders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1965960" cy="1188720"/>
          </a:xfrm>
          <a:prstGeom prst="rect">
            <a:avLst/>
          </a:prstGeom>
          <a:solidFill>
            <a:srgbClr val="161B27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547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3474720"/>
            <a:ext cx="1965960" cy="11887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3547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$1,264,762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1965960" cy="1188720"/>
          </a:xfrm>
          <a:prstGeom prst="rect">
            <a:avLst/>
          </a:prstGeom>
          <a:solidFill>
            <a:srgbClr val="161B27"/>
          </a:solidFill>
          <a:ln w="1905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3547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$1,054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3474720"/>
            <a:ext cx="1965960" cy="1188720"/>
          </a:xfrm>
          <a:prstGeom prst="rect">
            <a:avLst/>
          </a:prstGeom>
          <a:solidFill>
            <a:srgbClr val="161B27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3547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4069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4572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4572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63840" y="4572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66760" y="4572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96012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60920" y="96012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63840" y="96012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66760" y="96012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58000" y="146304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146304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63840" y="146304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66760" y="146304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0" y="196596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60920" y="196596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196596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66760" y="196596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0" y="246888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60920" y="246888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863840" y="246888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66760" y="246888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29718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29718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863840" y="29718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66760" y="2971800"/>
            <a:ext cx="109728" cy="109728"/>
          </a:xfrm>
          <a:prstGeom prst="ellipse">
            <a:avLst/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 &amp;  Revenue by Product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114800" cy="4114800"/>
          </a:xfrm>
          <a:prstGeom prst="rect">
            <a:avLst/>
          </a:prstGeom>
          <a:solidFill>
            <a:srgbClr val="161B27"/>
          </a:solidFill>
          <a:ln w="635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097280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685800"/>
            <a:ext cx="4343400" cy="4114800"/>
          </a:xfrm>
          <a:prstGeom prst="rect">
            <a:avLst/>
          </a:prstGeom>
          <a:solidFill>
            <a:srgbClr val="161B27"/>
          </a:solidFill>
          <a:ln w="635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097280"/>
          <a:ext cx="4251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 &amp;  Referral Sources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4114800" cy="4114800"/>
          </a:xfrm>
          <a:prstGeom prst="rect">
            <a:avLst/>
          </a:prstGeom>
          <a:solidFill>
            <a:srgbClr val="161B27"/>
          </a:solidFill>
          <a:ln w="635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3977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685800"/>
            <a:ext cx="4343400" cy="4114800"/>
          </a:xfrm>
          <a:prstGeom prst="rect">
            <a:avLst/>
          </a:prstGeom>
          <a:solidFill>
            <a:srgbClr val="161B27"/>
          </a:solidFill>
          <a:ln w="635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Sources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1097280"/>
          <a:ext cx="4251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Order Volume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8686800" cy="4114800"/>
          </a:xfrm>
          <a:prstGeom prst="rect">
            <a:avLst/>
          </a:prstGeom>
          <a:solidFill>
            <a:srgbClr val="161B27"/>
          </a:solidFill>
          <a:ln w="6350">
            <a:solidFill>
              <a:srgbClr val="2C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 placed per product category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97280"/>
          <a:ext cx="8549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420624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64008" cy="19202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Cancellation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21615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42% of orders were cancelled or returned, signalling potential issues in product quality or customer expectations.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13232"/>
            <a:ext cx="420624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713232"/>
            <a:ext cx="64008" cy="19202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850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&amp; Printer Lead Revenue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21615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($195,620) and Printer ($195,613) are nearly tied as top earners, together making up 31% of total revenue.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834640"/>
            <a:ext cx="420624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64008" cy="1920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Tops Acquisition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" y="33375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drives the most customers (259 orders), followed closely by Email (250) and Google (241).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161B27"/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64008" cy="19202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is #1 Payment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33756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 lead with 258 orders. All 5 methods are used nearly equally, showing healthy payment diversity.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178</Words>
  <Application>Microsoft Office PowerPoint</Application>
  <PresentationFormat>On-screen Show (16:9)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Dashboard</dc:title>
  <dc:subject>PptxGenJS Presentation</dc:subject>
  <dc:creator>PptxGenJS</dc:creator>
  <cp:lastModifiedBy>Haadiya Farhan</cp:lastModifiedBy>
  <cp:revision>1</cp:revision>
  <dcterms:created xsi:type="dcterms:W3CDTF">2026-06-04T10:20:34Z</dcterms:created>
  <dcterms:modified xsi:type="dcterms:W3CDTF">2026-06-04T10:31:03Z</dcterms:modified>
</cp:coreProperties>
</file>